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C9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109728" cy="5143500"/>
          </a:xfrm>
          <a:prstGeom prst="rect">
            <a:avLst/>
          </a:prstGeom>
          <a:solidFill>
            <a:srgbClr val="00E5C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FRAMEWORK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 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Platform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200400" cy="457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718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multi-stage ticket analysis powered by LLMs,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and intelligent knowledge retrieval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87452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4114800"/>
            <a:ext cx="187452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88920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4114800"/>
            <a:ext cx="187452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Fix Generation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4114800"/>
            <a:ext cx="187452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|  Dynamic Source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Manual RCA Fails at Scale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12344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2–8 hours per ticket hunting across codebases, logs, and Confluence.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645920"/>
            <a:ext cx="2651760" cy="12344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context is spread across JIRA, Slack, Git, docs, and tribal knowledge.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645920"/>
            <a:ext cx="2651760" cy="12344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Root Causes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of production incidents are repeat failures — no learning loop exists.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651760" cy="12344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Info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often lack stack traces, environment info, or reproduction steps.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3063240"/>
            <a:ext cx="2651760" cy="12344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Patterns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can't cross-reference hundreds of past tickets for similar failure modes.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063240"/>
            <a:ext cx="2651760" cy="123444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pulled into triage instead of building, creating opportunity cost.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High-Level Architecture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508760" cy="1463040"/>
          </a:xfrm>
          <a:prstGeom prst="rect">
            <a:avLst/>
          </a:prstGeom>
          <a:solidFill>
            <a:srgbClr val="1A73E8">
              <a:alpha val="85000"/>
            </a:srgbClr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Dynamic Source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2267712"/>
            <a:ext cx="201168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0" name="Shape 8"/>
          <p:cNvSpPr/>
          <p:nvPr/>
        </p:nvSpPr>
        <p:spPr>
          <a:xfrm>
            <a:off x="1993392" y="1600200"/>
            <a:ext cx="1508760" cy="1463040"/>
          </a:xfrm>
          <a:prstGeom prst="rect">
            <a:avLst/>
          </a:prstGeom>
          <a:solidFill>
            <a:srgbClr val="00E5CC">
              <a:alpha val="85000"/>
            </a:srgbClr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93392" y="2057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Enrichment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93392" y="2651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Completeness Check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02152" y="2267712"/>
            <a:ext cx="201168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712464" y="1600200"/>
            <a:ext cx="1508760" cy="146304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2464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12464" y="2057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12464" y="2651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21224" y="2267712"/>
            <a:ext cx="201168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31536" y="1600200"/>
            <a:ext cx="1508760" cy="1463040"/>
          </a:xfrm>
          <a:prstGeom prst="rect">
            <a:avLst/>
          </a:prstGeom>
          <a:solidFill>
            <a:srgbClr val="FF8C42">
              <a:alpha val="85000"/>
            </a:srgbClr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31536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31536" y="2057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31536" y="2651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+ Code Fix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0296" y="2267712"/>
            <a:ext cx="201168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0608" y="1600200"/>
            <a:ext cx="1508760" cy="1463040"/>
          </a:xfrm>
          <a:prstGeom prst="rect">
            <a:avLst/>
          </a:prstGeom>
          <a:solidFill>
            <a:srgbClr val="FF4D6D">
              <a:alpha val="85000"/>
            </a:srgbClr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50608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50608" y="2057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2651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 (Fed into Analysis Stage)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1965960" cy="1051560"/>
          </a:xfrm>
          <a:prstGeom prst="rect">
            <a:avLst/>
          </a:prstGeom>
          <a:solidFill>
            <a:srgbClr val="162B4D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Attachments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04164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logs, screenshots, stack traces from ticket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50592" y="3657600"/>
            <a:ext cx="1965960" cy="1051560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42032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 / Git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42032" y="404164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knowledge base — diffs, blame,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26864" y="3657600"/>
            <a:ext cx="1965960" cy="1051560"/>
          </a:xfrm>
          <a:prstGeom prst="rect">
            <a:avLst/>
          </a:prstGeom>
          <a:solidFill>
            <a:srgbClr val="162B4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18304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Documentation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18304" y="404164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internal docs via RAG pipeline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03136" y="3657600"/>
            <a:ext cx="1965960" cy="1051560"/>
          </a:xfrm>
          <a:prstGeom prst="rect">
            <a:avLst/>
          </a:prstGeom>
          <a:solidFill>
            <a:srgbClr val="162B4D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94576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Historical Tickets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94576" y="404164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vector index of resolved past tickets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 ·  TICKET INGESTION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Detecting &amp; Ingesting Tickets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333756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or polling listener monitors JIRA project(s) for new/updated tickets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87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5420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triggers the ingestion agent — captures ticket ID, title, description, labels, priority, reporter, and all metadata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18104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18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07238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connector is dynamic — same pipeline can be pointed at ServiceNow, GitHub Issues, Linear, etc. via plugin interface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648456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6027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is normalized into a universal schema (regardless of source system)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78808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13308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ticket fingerprint is created and checked against existing open/resolved tickets in the vector index to detect duplicates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463040"/>
            <a:ext cx="4114800" cy="1463040"/>
          </a:xfrm>
          <a:prstGeom prst="rect">
            <a:avLst/>
          </a:prstGeom>
          <a:solidFill>
            <a:srgbClr val="162B4D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SOURCE ARCHITECTURE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96596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ingestion layer is built as a pluggable connector system. A base TicketSource interface defines: connect(), listen(), fetch_ticket(id), and normalize(). Each source (JIRA, ServiceNow, GitHub) implements this interface — allowing new sources to be added without modifying core pipeline logic.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114800" cy="173736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182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 PER TICKET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5661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Ticket ID, Title, Description, Priority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Reporter, Assignee, Team, Environment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42062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Labels, Components, Affected Version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35661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Attachments (images, logs, files)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2084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Linked tickets, Epic, Sprint context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0840" y="42062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 fields (error codes, stack traces)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 ·  VALIDATION &amp; ENRICHMENT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Information Completeness Check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51760" cy="3337560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651760" cy="457200"/>
          </a:xfrm>
          <a:prstGeom prst="rect">
            <a:avLst/>
          </a:prstGeom>
          <a:solidFill>
            <a:srgbClr val="00E5CC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36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Scoring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5740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evaluates ticket against a dynamic required-fields checklist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7249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scored: description clarity, environment, steps to reproduce, error messages, severity justification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39242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completeness score (0–100%) and a field-by-field gap report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405993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configurable per project type (e.g., P1 bugs need ≥85% score)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651760" cy="3337560"/>
          </a:xfrm>
          <a:prstGeom prst="rect">
            <a:avLst/>
          </a:prstGeom>
          <a:solidFill>
            <a:srgbClr val="162B4D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08760"/>
            <a:ext cx="2651760" cy="457200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536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Request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05740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&lt; threshold, the agent generates a targeted clarification message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7249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LLM to draft a polite, specific comment on the JIRA ticket listing exact missing fields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339242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ticket status to "Awaiting Info" and pauses pipeline for this ticket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405993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Re-triggered automatically when reporter updates the ticket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651760" cy="3337560"/>
          </a:xfrm>
          <a:prstGeom prst="rect">
            <a:avLst/>
          </a:prstGeom>
          <a:solidFill>
            <a:srgbClr val="162B4D"/>
          </a:solidFill>
          <a:ln w="12700">
            <a:solidFill>
              <a:srgbClr val="22D3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508760"/>
            <a:ext cx="2651760" cy="457200"/>
          </a:xfrm>
          <a:prstGeom prst="rect">
            <a:avLst/>
          </a:prstGeom>
          <a:solidFill>
            <a:srgbClr val="22D3A5">
              <a:alpha val="7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536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0488" y="205740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completeness threshold is met, ticket moves to analysis stage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0488" y="27249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is enriched with environment context, linked issues, and team metadata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0488" y="339242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"context bundle" is assembled and passed to the analysis orchestrator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0488" y="405993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and audit trail logged for all decisions made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80360" y="2606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FAIL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606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 ·  MULTI-SOURCE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Orchestration &amp; Knowledge Retrieval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2423160" cy="77724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5087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Orchestrator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65176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2651760" cy="438912"/>
          </a:xfrm>
          <a:prstGeom prst="rect">
            <a:avLst/>
          </a:prstGeom>
          <a:solidFill>
            <a:srgbClr val="1A73E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356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Attachment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images (vision LLM), log files (pattern matching), stack traces (symbol resolution), and error screenshots. Extracts key signals and anomalies.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265176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2651760" cy="438912"/>
          </a:xfrm>
          <a:prstGeom prst="rect">
            <a:avLst/>
          </a:prstGeom>
          <a:solidFill>
            <a:srgbClr val="00E5CC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4436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 Analysis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4107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code knowledge base via semantic search. Identifies relevant functions, recent commits, blame history, and potential bug locations.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46520" y="1417320"/>
            <a:ext cx="265176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417320"/>
            <a:ext cx="2651760" cy="438912"/>
          </a:xfrm>
          <a:prstGeom prst="rect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4356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Documentation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9019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 Confluence / internal docs. Retrieves relevant architecture notes, runbooks, known issues, and configuration guides.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46520" y="2926080"/>
            <a:ext cx="265176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22D3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2926080"/>
            <a:ext cx="2651760" cy="438912"/>
          </a:xfrm>
          <a:prstGeom prst="rect">
            <a:avLst/>
          </a:prstGeom>
          <a:solidFill>
            <a:srgbClr val="22D3A5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94436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Historical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4107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Pinecone vector index of past tickets. Finds semantically similar resolved cases and extracts applied fixes and patterns.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0" y="1874520"/>
            <a:ext cx="4572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2926080" y="3337560"/>
            <a:ext cx="4572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1874520"/>
            <a:ext cx="4572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3337560"/>
            <a:ext cx="4572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53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agents run in parallel → results merged by orchestrator → unified analysis context passed to RCA Synthesis stage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 ·  RCA SYNTHESIS &amp; CODE 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 Analysis &amp; Automated Fix Generation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023360" cy="3383280"/>
          </a:xfrm>
          <a:prstGeom prst="rect">
            <a:avLst/>
          </a:prstGeom>
          <a:solidFill>
            <a:srgbClr val="162B4D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023360" cy="438912"/>
          </a:xfrm>
          <a:prstGeom prst="rect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04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RCA REPORT COMPONENTS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274320" cy="2743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029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Summary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2311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plain-English explanation of the primary failure cause with confidence score.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274320" cy="2743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6883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issues that amplified the bug: misconfigs, dependency issues, timing.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274320" cy="2743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44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944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Findings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31455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signals extracted from logs, screenshots, and traces with visual annotations.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401568"/>
            <a:ext cx="274320" cy="2743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401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References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36027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files, functions, and line numbers identified as the source of the bug.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858768"/>
            <a:ext cx="274320" cy="2743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858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Matches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40599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internal runbooks, known issues, or config guides surfaced by RAG.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315968"/>
            <a:ext cx="274320" cy="2743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4315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Tickets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" y="45171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most similar resolved tickets from vector index with fix summaries.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1463040"/>
            <a:ext cx="4297680" cy="33832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6280" y="1463040"/>
            <a:ext cx="4297680" cy="438912"/>
          </a:xfrm>
          <a:prstGeom prst="rect">
            <a:avLst/>
          </a:prstGeom>
          <a:solidFill>
            <a:srgbClr val="00E5CC">
              <a:alpha val="7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4904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FIX GENERATION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2029968"/>
            <a:ext cx="27432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2029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Fix Proposal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83480" y="22311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 exact code diff targeting the identified buggy code section.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2487168"/>
            <a:ext cx="27432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83480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83480" y="26883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for why the fix addresses the root cause.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17720" y="2944368"/>
            <a:ext cx="27432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5" name="Text 43"/>
          <p:cNvSpPr/>
          <p:nvPr/>
        </p:nvSpPr>
        <p:spPr>
          <a:xfrm>
            <a:off x="4617720" y="2944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2944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Suggestions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83480" y="31455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unit/integration test cases to validate the proposed fix.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17720" y="3401568"/>
            <a:ext cx="27432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3401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8348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Scope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83480" y="36027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files, services, and downstream dependencies impacted by the change.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3858768"/>
            <a:ext cx="27432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3" name="Text 51"/>
          <p:cNvSpPr/>
          <p:nvPr/>
        </p:nvSpPr>
        <p:spPr>
          <a:xfrm>
            <a:off x="461772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83480" y="3858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Plan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983480" y="40599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fix is complex, a safe rollback procedure is included.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17720" y="4315968"/>
            <a:ext cx="274320" cy="27432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7" name="Text 55"/>
          <p:cNvSpPr/>
          <p:nvPr/>
        </p:nvSpPr>
        <p:spPr>
          <a:xfrm>
            <a:off x="461772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83480" y="4315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Draft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983480" y="45171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creates a GitHub/JIRA-linked draft PR with the fix and description.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 ·  RISK ASSESSMENT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Risk Analysis &amp; Reporting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DIMENSIONS ASSESSED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697480" cy="1325880"/>
          </a:xfrm>
          <a:prstGeom prst="rect">
            <a:avLst/>
          </a:prstGeom>
          <a:solidFill>
            <a:srgbClr val="162B4D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services, users, and data flows are impacted by this bug? Calculated from service dependency graph.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97480" cy="1325880"/>
          </a:xfrm>
          <a:prstGeom prst="rect">
            <a:avLst/>
          </a:prstGeom>
          <a:solidFill>
            <a:srgbClr val="162B4D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1920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the proposed fix introduces new failures — based on code churn rate and test coverage.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697480" cy="1325880"/>
          </a:xfrm>
          <a:prstGeom prst="rect">
            <a:avLst/>
          </a:prstGeom>
          <a:solidFill>
            <a:srgbClr val="162B4D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3591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bug or fix touch data pipelines, DB schemas, or message queues? What's the corruption risk?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2697480" cy="13258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822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hotfix sufficient or is a full release needed? Are there infra dependencies, migrations, or feature flags?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3291840"/>
            <a:ext cx="2697480" cy="1325880"/>
          </a:xfrm>
          <a:prstGeom prst="rect">
            <a:avLst/>
          </a:prstGeom>
          <a:solidFill>
            <a:srgbClr val="162B4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03320" y="3383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822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historical patterns, how likely is this class of bug to recur? What systemic fix is needed?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3291840"/>
            <a:ext cx="2697480" cy="1325880"/>
          </a:xfrm>
          <a:prstGeom prst="rect">
            <a:avLst/>
          </a:prstGeom>
          <a:solidFill>
            <a:srgbClr val="162B4D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722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3383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Impact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3822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ticket breach or threaten SLA commitments? Estimated MTTR and downtime surface area.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24912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24912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813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 — multi-agent state machine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tool use, prompt management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6151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internal REST API for pipeline triggers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2112" y="1463040"/>
            <a:ext cx="2724912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463040"/>
            <a:ext cx="2724912" cy="384048"/>
          </a:xfrm>
          <a:prstGeom prst="rect">
            <a:avLst/>
          </a:prstGeom>
          <a:solidFill>
            <a:srgbClr val="1A73E8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4813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73552" y="1920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 3.5 — core reasoning &amp; synthesis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73552" y="22677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Vision — attachment/image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73552" y="26151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LLM (Codestral / GPT-4o) — code fix generation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9904" y="1463040"/>
            <a:ext cx="2724912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463040"/>
            <a:ext cx="2724912" cy="384048"/>
          </a:xfrm>
          <a:prstGeom prst="rect">
            <a:avLst/>
          </a:prstGeom>
          <a:solidFill>
            <a:srgbClr val="00E5CC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14813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Retrieval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1920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— vector index for historical tickets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81344" y="22677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/ LangChain — RAG over docs &amp; code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81344" y="26151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/ AST parsers — code structure extraction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182112"/>
            <a:ext cx="2724912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82112"/>
            <a:ext cx="2724912" cy="384048"/>
          </a:xfrm>
          <a:prstGeom prst="rect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2004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6393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REST API — ticket ingestion &amp; commenting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9867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 — code diff fetch, PR creation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3342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 — documentation retrieval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82112" y="3182112"/>
            <a:ext cx="2724912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22D3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3182112"/>
            <a:ext cx="2724912" cy="384048"/>
          </a:xfrm>
          <a:prstGeom prst="rect">
            <a:avLst/>
          </a:prstGeom>
          <a:solidFill>
            <a:srgbClr val="22D3A5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73552" y="32004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73552" y="36393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pipeline state &amp; caching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73552" y="39867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/ Kafka — async task queue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73552" y="43342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audit log, ticket metadata store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9904" y="3182112"/>
            <a:ext cx="2724912" cy="1572768"/>
          </a:xfrm>
          <a:prstGeom prst="rect">
            <a:avLst/>
          </a:prstGeom>
          <a:solidFill>
            <a:srgbClr val="162B4D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3182112"/>
            <a:ext cx="2724912" cy="384048"/>
          </a:xfrm>
          <a:prstGeom prst="rect">
            <a:avLst/>
          </a:prstGeom>
          <a:solidFill>
            <a:srgbClr val="FF4D6D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32004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1344" y="36393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/ Langfuse — LLM trace &amp; eval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81344" y="39867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— pipeline health metrics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81344" y="43342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— distributed tracing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Pipeline Data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" y="192024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463040"/>
            <a:ext cx="777240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4813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 Created in JIRA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1499616"/>
            <a:ext cx="4983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fires → Ingestion agent activates → Ticket normalized to universal schema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457200" cy="457200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" y="251460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2057400"/>
            <a:ext cx="777240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20756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093976"/>
            <a:ext cx="4983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ticket → Missing fields identified → Clarification comment posted or pipeline advanced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" y="310896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2651760"/>
            <a:ext cx="777240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26700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Bundle Assembly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2688336"/>
            <a:ext cx="4983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downloaded → Code repo queried → Docs indexed → Historical tickets retrieved from Pinecone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" y="370332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3246120"/>
            <a:ext cx="777240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51560" y="3264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3282696"/>
            <a:ext cx="4983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specialist agents run concurrently → Each returns structured findings → Orchestrator merges results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457200" cy="4572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1208" y="429768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960120" y="3840480"/>
            <a:ext cx="777240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51560" y="38587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+ Code Fix Synthesis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11880" y="3877056"/>
            <a:ext cx="4983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LLM call synthesizes all signals → Root cause identified → Code fix generated → Report structured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434840"/>
            <a:ext cx="457200" cy="45720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60120" y="4434840"/>
            <a:ext cx="7772400" cy="502920"/>
          </a:xfrm>
          <a:prstGeom prst="rect">
            <a:avLst/>
          </a:prstGeom>
          <a:solidFill>
            <a:srgbClr val="162B4D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51560" y="44531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Delivery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11880" y="4471416"/>
            <a:ext cx="4983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dimensions scored → Final report posted to JIRA ticket → Optional PR created → Stakeholders notified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Final RCA Report Looks Like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3474720"/>
          </a:xfrm>
          <a:prstGeom prst="rect">
            <a:avLst/>
          </a:prstGeom>
          <a:solidFill>
            <a:srgbClr val="162B4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8595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3560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RCA Agent  ·  Auto-generated analysis  ·  Confidence: 87%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Root Cause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2651760" cy="237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23160"/>
            <a:ext cx="24871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NullPointerException in PaymentService.processRefund() caused by missing null-check on userId field when order was created via guest checkout flow. Guest orders store null userId but refund handler assumes userId is always populated.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4612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 Fix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651760" cy="237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423160"/>
            <a:ext cx="24871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PaymentService.java line 284, add: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(order.getUserId() == null) {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= GUEST_USER_ID;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calling userRepository.findById(). Also patch OrderValidator to flag guest orders at creation.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8076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Assessment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331720"/>
            <a:ext cx="2651760" cy="237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423160"/>
            <a:ext cx="24871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Blast Radius: Medium (2.3% of orders are guest)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 Risk: Low (isolated change)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Risk: Low (no schema changes)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 Impact: P2 — affects refund SLA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 Ticket: JIRA-4821 (resolved 6mo ago same root cause)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Draft PR created  ·  Ticket updated  ·  Team notified via Slack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Delivery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93392" cy="3383280"/>
          </a:xfrm>
          <a:prstGeom prst="rect">
            <a:avLst/>
          </a:prstGeom>
          <a:solidFill>
            <a:srgbClr val="162B4D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1993392" cy="777240"/>
          </a:xfrm>
          <a:prstGeom prst="rect">
            <a:avLst/>
          </a:prstGeom>
          <a:solidFill>
            <a:srgbClr val="1A73E8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90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webhook integration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1181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normalization schema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6301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validation LLM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1422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pipeline skeleton (LangGraph)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1463040"/>
            <a:ext cx="1993392" cy="33832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463040"/>
            <a:ext cx="1993392" cy="777240"/>
          </a:xfrm>
          <a:prstGeom prst="rect">
            <a:avLst/>
          </a:prstGeom>
          <a:solidFill>
            <a:srgbClr val="00E5CC">
              <a:alpha val="8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1490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2032" y="1810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2176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26060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vector index for tickets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31181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 documentation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42032" y="36301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knowledge base indexing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032" y="41422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analysis (Vision LLM)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26864" y="1463040"/>
            <a:ext cx="1993392" cy="3383280"/>
          </a:xfrm>
          <a:prstGeom prst="rect">
            <a:avLst/>
          </a:prstGeom>
          <a:solidFill>
            <a:srgbClr val="162B4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463040"/>
            <a:ext cx="1993392" cy="777240"/>
          </a:xfrm>
          <a:prstGeom prst="rect">
            <a:avLst/>
          </a:prstGeom>
          <a:solidFill>
            <a:srgbClr val="7C3AED">
              <a:alpha val="8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1490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18304" y="1810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18304" y="2176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18304" y="26060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 development (×4)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31181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 logic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36301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&amp; result merging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18304" y="41422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synthesis LLM chain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03136" y="1463040"/>
            <a:ext cx="1993392" cy="3383280"/>
          </a:xfrm>
          <a:prstGeom prst="rect">
            <a:avLst/>
          </a:prstGeom>
          <a:solidFill>
            <a:srgbClr val="162B4D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1463040"/>
            <a:ext cx="1993392" cy="777240"/>
          </a:xfrm>
          <a:prstGeom prst="rect">
            <a:avLst/>
          </a:prstGeom>
          <a:solidFill>
            <a:srgbClr val="FF8C42">
              <a:alpha val="8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894576" y="1490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94576" y="1810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94576" y="2176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Fix &amp; Risk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94576" y="26060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fix generation pipeline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94576" y="31181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module (×6 dimensions)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94576" y="36301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 auto-creation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94576" y="41422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comment posting &amp; formatting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Hours to Minutes.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Guesswork to Intelligence.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82880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999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926080"/>
            <a:ext cx="182880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999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060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Identification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182880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999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2926080"/>
            <a:ext cx="1828800" cy="137160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999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7208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· Extensible · Autonomous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Root Cause Analysis Framework</dc:title>
  <dc:subject>PptxGenJS Presentation</dc:subject>
  <dc:creator>PptxGenJS</dc:creator>
  <cp:lastModifiedBy>PptxGenJS</cp:lastModifiedBy>
  <cp:revision>1</cp:revision>
  <dcterms:created xsi:type="dcterms:W3CDTF">2026-03-10T19:46:34Z</dcterms:created>
  <dcterms:modified xsi:type="dcterms:W3CDTF">2026-03-10T19:46:34Z</dcterms:modified>
</cp:coreProperties>
</file>